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840480"/>
            <a:ext cx="2926080" cy="292608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BED DEMAND FORECASTING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and Artificial Intelligence to Plan Ahead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Briefing for Hospital Leadership &amp; Operations Stakeholders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Hospitals Are Under Growing Pressure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Capacity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availability is finite, but patient demand is hard to predict day to day.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4F9F8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331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063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Strain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35204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 or over-allocating beds, staff and equipment creates avoidable risk.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0" y="20116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4F9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331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3063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Planning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49640" y="35204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foresight, teams are left responding to pressure instead of preparing for it.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forecast lets leaders plan staffing and capacity before pressure peaks — not after.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Bed Demand Forecasting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Built the Forecast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rot="5400000">
            <a:off x="3218688" y="3035808"/>
            <a:ext cx="237744" cy="237744"/>
          </a:xfrm>
          <a:prstGeom prst="triangle">
            <a:avLst/>
          </a:prstGeom>
          <a:solidFill>
            <a:srgbClr val="5B6B6C"/>
          </a:solidFill>
          <a:ln/>
        </p:spPr>
      </p:sp>
      <p:sp>
        <p:nvSpPr>
          <p:cNvPr id="7" name="Shape 5"/>
          <p:cNvSpPr/>
          <p:nvPr/>
        </p:nvSpPr>
        <p:spPr>
          <a:xfrm>
            <a:off x="3520440" y="246888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5400000">
            <a:off x="5961888" y="3035808"/>
            <a:ext cx="237744" cy="237744"/>
          </a:xfrm>
          <a:prstGeom prst="triangle">
            <a:avLst/>
          </a:prstGeom>
          <a:solidFill>
            <a:srgbClr val="5B6B6C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246888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 rot="5400000">
            <a:off x="8705088" y="3035808"/>
            <a:ext cx="237744" cy="237744"/>
          </a:xfrm>
          <a:prstGeom prst="triangle">
            <a:avLst/>
          </a:prstGeom>
          <a:solidFill>
            <a:srgbClr val="5B6B6C"/>
          </a:solidFill>
          <a:ln/>
        </p:spPr>
      </p:sp>
      <p:sp>
        <p:nvSpPr>
          <p:cNvPr id="13" name="Shape 11"/>
          <p:cNvSpPr/>
          <p:nvPr/>
        </p:nvSpPr>
        <p:spPr>
          <a:xfrm>
            <a:off x="9006840" y="246888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Approach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480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occupancy, admissions &amp; discharges, emergency arrivals, planned surgeries, and staffing levels — combined into one clean, connected dataset.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212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traditional statistical benchmark, three modern machine-learning methods, and a deep-learning model.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Bed Demand Forecasting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Predictable Daily Rhythm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activity consistently peaks around midnight and the early hours, then eases through the afternoon — a steady cycle that repeats every day.</a:t>
            </a:r>
            <a:endParaRPr lang="en-US" sz="1500" dirty="0"/>
          </a:p>
        </p:txBody>
      </p:sp>
      <p:pic>
        <p:nvPicPr>
          <p:cNvPr id="5" name="Image 0" descr="/home/claude/proj/hou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423160"/>
            <a:ext cx="9601200" cy="2845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Knowing exactly when demand peaks helps target staffing to the busiest hours rather than spreading resources evenly.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Bed Demand Forecasting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Seasonal Swing Across the Year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runs noticeably higher in winter and early spring, and eases off over the summer months.</a:t>
            </a:r>
            <a:endParaRPr lang="en-US" sz="1500" dirty="0"/>
          </a:p>
        </p:txBody>
      </p:sp>
      <p:pic>
        <p:nvPicPr>
          <p:cNvPr id="5" name="Image 0" descr="/home/claude/proj/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423160"/>
            <a:ext cx="9418320" cy="30056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Building seasonality into the forecast lets leaders adjust staffing and capacity plans well ahead of the busiest time of year.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Bed Demand Forecasting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Trending Upward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daily and seasonal cycles, overall bed demand is gradually increasing over time — reinforcing the need for proactive, forward-looking planning.</a:t>
            </a:r>
            <a:endParaRPr lang="en-US" sz="1500" dirty="0"/>
          </a:p>
        </p:txBody>
      </p:sp>
      <p:pic>
        <p:nvPicPr>
          <p:cNvPr id="5" name="Image 0" descr="/home/claude/proj/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23160"/>
            <a:ext cx="9692640" cy="30538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shaded band shows the range of forecast uncertainty — narrow near-term, widening further into the future.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Bed Demand Forecasting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Forecasting Methods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“Typical error” shows how many beds, on average, each method's forecast was off by on a given day.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74904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2286000"/>
                <a:gridCol w="320040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Forecasting Method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Typical Error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Best Used For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D2E"/>
                          </a:solidFill>
                        </a:rPr>
                        <a:t>Deep Learning (LSTM)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D2E"/>
                          </a:solidFill>
                        </a:rPr>
                        <a:t>Excellent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D2E"/>
                          </a:solidFill>
                        </a:rPr>
                        <a:t>~5 beds/day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D2E"/>
                          </a:solidFill>
                        </a:rPr>
                        <a:t>Highest possible precision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XGBoost  ★ Recommended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Excellent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~6 beds/day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Best balance of accuracy &amp; explainability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D2E"/>
                          </a:solidFill>
                        </a:rPr>
                        <a:t>CatBoost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D2E"/>
                          </a:solidFill>
                        </a:rPr>
                        <a:t>Very Good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D2E"/>
                          </a:solidFill>
                        </a:rPr>
                        <a:t>~8 beds/day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D2E"/>
                          </a:solidFill>
                        </a:rPr>
                        <a:t>Strong alternative option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D2E"/>
                          </a:solidFill>
                        </a:rPr>
                        <a:t>Random Forest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D2E"/>
                          </a:solidFill>
                        </a:rPr>
                        <a:t>Good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D2E"/>
                          </a:solidFill>
                        </a:rPr>
                        <a:t>~13 beds/day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D2E"/>
                          </a:solidFill>
                        </a:rPr>
                        <a:t>Reliable, less precise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D2E"/>
                          </a:solidFill>
                        </a:rPr>
                        <a:t>Traditional Statistical Model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D2E"/>
                          </a:solidFill>
                        </a:rPr>
                        <a:t>Fair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D2E"/>
                          </a:solidFill>
                        </a:rPr>
                        <a:t>~74 beds/day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D2E"/>
                          </a:solidFill>
                        </a:rPr>
                        <a:t>Baseline comparison only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Bed Demand Forecasting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XGBoost with Built-In Explainability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82296" cy="105156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53288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nearly matches the most precise deep-learning model.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82296" cy="105156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3813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an explainability tool that shows exactly why each forecast was made.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4709160"/>
            <a:ext cx="82296" cy="105156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51560" y="50932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maintain and integrate into a live planning dashboard.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Bed Demand Forecasting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TRANSPARENCY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Forecast Comes With a Reason Why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explainability layer (SHAP) sits alongside the forecast, translating the model's reasoning into plain language planners can trust and act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468880"/>
            <a:ext cx="9966960" cy="3200400"/>
          </a:xfrm>
          <a:prstGeom prst="roundRect">
            <a:avLst>
              <a:gd name="adj" fmla="val 2286"/>
            </a:avLst>
          </a:prstGeom>
          <a:solidFill>
            <a:srgbClr val="F4F9F8"/>
          </a:solidFill>
          <a:ln w="12700">
            <a:solidFill>
              <a:srgbClr val="DCEA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78892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Why is tomorrow's forecast higher?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00200" y="35021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occupancy over the last few days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00200" y="40965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40233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rise in emergency department arrivals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00200" y="46908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4617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higher-than-usual number of scheduled surgeries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Bed Demand Forecasting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Forecasting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4F9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1488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 bed demand for upcoming days and weeks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35040" y="19202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4F9F8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4231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21488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occupancy and admission/discharge trends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4F9F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251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9776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indicators when capacity risk is rising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35040" y="37490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4F9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4251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39776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filtering by ward, time period or scenario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Bed Demand Forecasting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the Hospital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214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Allocation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60120" y="263347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 and staff positioned ahead of demand spikes, not after.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9202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1214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Staffing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263347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planning grounded in forecasted need, reducing last-minute pressure.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873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Overcrowding Risk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60120" y="459943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of rising pressure supports timely intervention.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38862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40873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Patient Flow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55080" y="459943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admission to discharge, capacity is planned rather than guessed.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Bed Demand Forecasting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572000" cy="4572000"/>
          </a:xfrm>
          <a:prstGeom prst="ellipse">
            <a:avLst/>
          </a:prstGeom>
          <a:solidFill>
            <a:srgbClr val="02C39A">
              <a:alpha val="3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From Insight to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35915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integration of the forecasting model into the live dashboard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341071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system with operational teams and gather feedback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446227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routine review cycle to monitor and retrain the model as new data arrives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Bed Demand Forecasting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2026-07-21T22:44:26Z</dcterms:created>
  <dcterms:modified xsi:type="dcterms:W3CDTF">2026-07-21T22:44:26Z</dcterms:modified>
</cp:coreProperties>
</file>